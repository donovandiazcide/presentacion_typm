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A65DDD-FEA9-4083-956F-44E1369B5E37}" v="2" dt="2026-06-13T04:55:51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1187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Pregunta guía: a la luz de los datos disponibles a junio de 2026, ¿fue adecuado el ritmo y la comunicación del ciclo de recortes?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688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1828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423160"/>
            <a:ext cx="10725912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Presentación de política monetaria: evaluación del ciclo de recortes de Banxico (ene-2025 – jun-2026)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51960"/>
            <a:ext cx="1036289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Periodo de estudio: 11 decisiones de política monetaria del Banco de México entre enero de 2025 y junio de 2026. La tasa objetivo pasó de 10.00% a 6.50% (10 recortes, una pausa).</a:t>
            </a:r>
          </a:p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Estructura: (I) contexto externo, (II) economía doméstica, (III) inflación y postura monetaria, (IV) perspectiva personal basada en el marco del curso, (V) conclusiones.</a:t>
            </a:r>
          </a:p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Marco institucional: el Banco de México opera bajo un mandato único de estabilidad de precios, con una meta de inflación de 3% y un intervalo de variabilidad de ± 1 punto porcentual. Toda la evaluación que sigue se realiza contra ese objetivo. Fuente: Banco de México, objetivo de inflación.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49240"/>
            <a:ext cx="999713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999999"/>
                </a:solidFill>
                <a:latin typeface="Calibri"/>
              </a:rPr>
              <a:t>Pregunta guía: a la luz de los datos disponibles a junio de 2026, ¿fue adecuado el ritmo y la comunicación del ciclo de recortes?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Calibri"/>
              </a:rPr>
              <a:t>CIDE — Economía y Política Monetaria de México (Tema 2)  |  Donovan Díaz Moreno  |  junio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I. Contexto Externo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291840"/>
            <a:ext cx="1828800" cy="5943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I. Contexto Externo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290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II. Economía Doméstica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III. Inflación y Postura Monetaria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IV. Perspectiva Personal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V. Conclusiones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Política Monetaria de México · Evaluación del ciclo de recortes ene-2025 – jun-2026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400" b="1" i="0">
                <a:solidFill>
                  <a:srgbClr val="1F3864"/>
                </a:solidFill>
                <a:latin typeface="Calibri"/>
              </a:rPr>
              <a:t>Crecimiento mundial: desaceleración moderada en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27080" cy="137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ntexto_crecimiento_global.png"/>
          <p:cNvPicPr>
            <a:picLocks noChangeAspect="1"/>
          </p:cNvPicPr>
          <p:nvPr/>
        </p:nvPicPr>
        <p:blipFill>
          <a:blip r:embed="rId2"/>
          <a:srcRect t="5926"/>
          <a:stretch>
            <a:fillRect/>
          </a:stretch>
        </p:blipFill>
        <p:spPr>
          <a:xfrm>
            <a:off x="1807797" y="1435608"/>
            <a:ext cx="8573358" cy="4645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400" b="1" i="0">
                <a:solidFill>
                  <a:srgbClr val="1F3864"/>
                </a:solidFill>
                <a:latin typeface="Calibri"/>
              </a:rPr>
              <a:t>Inflación mundial: repunte de 4.1% a 4.4% en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27080" cy="137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ntexto_inflacion_global.png"/>
          <p:cNvPicPr>
            <a:picLocks noChangeAspect="1"/>
          </p:cNvPicPr>
          <p:nvPr/>
        </p:nvPicPr>
        <p:blipFill>
          <a:blip r:embed="rId2"/>
          <a:srcRect t="4814"/>
          <a:stretch>
            <a:fillRect/>
          </a:stretch>
        </p:blipFill>
        <p:spPr>
          <a:xfrm>
            <a:off x="1807797" y="1380744"/>
            <a:ext cx="8573358" cy="47000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400" b="1" i="0">
                <a:solidFill>
                  <a:srgbClr val="1F3864"/>
                </a:solidFill>
                <a:latin typeface="Calibri"/>
              </a:rPr>
              <a:t>Precios del petróleo: incremento de 57% en marzo de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27080" cy="137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ntexto_petroleo.png"/>
          <p:cNvPicPr>
            <a:picLocks noChangeAspect="1"/>
          </p:cNvPicPr>
          <p:nvPr/>
        </p:nvPicPr>
        <p:blipFill>
          <a:blip r:embed="rId2"/>
          <a:srcRect t="5371"/>
          <a:stretch>
            <a:fillRect/>
          </a:stretch>
        </p:blipFill>
        <p:spPr>
          <a:xfrm>
            <a:off x="1776109" y="1408176"/>
            <a:ext cx="8636733" cy="46725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II. Economía Doméstica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I. Contexto Externo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291840"/>
            <a:ext cx="1828800" cy="5943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290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II. Economía Doméstica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III. Inflación y Postura Monetaria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IV. Perspectiva Personal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V. Conclusiones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Política Monetaria de México · Evaluación del ciclo de recortes ene-2025 – jun-2026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200" b="1" i="0">
                <a:solidFill>
                  <a:srgbClr val="1F3864"/>
                </a:solidFill>
                <a:latin typeface="Calibri"/>
              </a:rPr>
              <a:t>Producto Interno Bruto: estancamiento en 2025, arranque débil en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27080" cy="137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xico_pib_histor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122" y="1143000"/>
            <a:ext cx="8776707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200" b="1" i="0">
                <a:solidFill>
                  <a:srgbClr val="1F3864"/>
                </a:solidFill>
                <a:latin typeface="Calibri"/>
              </a:rPr>
              <a:t>Componentes de la demanda agregada: la inversión fija en contracción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27080" cy="137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xico_componentes_p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713" y="1143000"/>
            <a:ext cx="8367526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200" b="1" i="0">
                <a:solidFill>
                  <a:srgbClr val="1F3864"/>
                </a:solidFill>
                <a:latin typeface="Calibri"/>
              </a:rPr>
              <a:t>Mercado laboral: desempleo en mínimos, salarios reales sin tendencia definida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27080" cy="137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xico_empleo_sal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455" y="1143000"/>
            <a:ext cx="7048042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200" b="1" i="0">
                <a:solidFill>
                  <a:srgbClr val="1F3864"/>
                </a:solidFill>
                <a:latin typeface="Calibri"/>
              </a:rPr>
              <a:t>Tipo de cambio: apreciación del peso de 16% desde su máximo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27080" cy="137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xico_tipo_camb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993" y="1143000"/>
            <a:ext cx="9770966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200" b="1" i="0">
                <a:solidFill>
                  <a:srgbClr val="1F3864"/>
                </a:solidFill>
                <a:latin typeface="Calibri"/>
              </a:rPr>
              <a:t>Crédito al sector privado: desaceleración durante el ciclo de recortes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27080" cy="137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xico_credi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741" y="1143000"/>
            <a:ext cx="874347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III. Inflación y Postura Monetaria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I. Contexto Externo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290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II. Economía Doméstica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3291840"/>
            <a:ext cx="1828800" cy="5943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III. Inflación y Postura Monetaria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IV. Perspectiva Personal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V. Conclusiones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Política Monetaria de México · Evaluación del ciclo de recortes ene-2025 – jun-2026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200" b="1" i="0">
                <a:solidFill>
                  <a:srgbClr val="1F3864"/>
                </a:solidFill>
                <a:latin typeface="Calibri"/>
              </a:rPr>
              <a:t>Inflación general: descenso de 8.7% a 4.4% y estabilización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27080" cy="137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xico_inflacion_historica.png"/>
          <p:cNvPicPr>
            <a:picLocks noChangeAspect="1"/>
          </p:cNvPicPr>
          <p:nvPr/>
        </p:nvPicPr>
        <p:blipFill>
          <a:blip r:embed="rId2"/>
          <a:srcRect t="4629"/>
          <a:stretch>
            <a:fillRect/>
          </a:stretch>
        </p:blipFill>
        <p:spPr>
          <a:xfrm>
            <a:off x="1823273" y="1357884"/>
            <a:ext cx="8545454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200" b="1" i="0">
                <a:solidFill>
                  <a:srgbClr val="1F3864"/>
                </a:solidFill>
                <a:latin typeface="Calibri"/>
              </a:rPr>
              <a:t>Componentes de la inflación: el shock de marzo entra por la no subyacente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27080" cy="137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xico_inflacion_compon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141" y="1143000"/>
            <a:ext cx="9222669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200" b="1" i="0">
                <a:solidFill>
                  <a:srgbClr val="1F3864"/>
                </a:solidFill>
                <a:latin typeface="Calibri"/>
              </a:rPr>
              <a:t>Tasa de interés real: la postura monetaria se aproxima al nivel neutral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27080" cy="137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xico_tasa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53" y="1143000"/>
            <a:ext cx="8683646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200" b="1" i="0">
                <a:solidFill>
                  <a:srgbClr val="1F3864"/>
                </a:solidFill>
                <a:latin typeface="Calibri"/>
              </a:rPr>
              <a:t>Decisiones de política monetaria: 350 pb de recortes en 11 reuniones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27080" cy="137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xico_tasa_banx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656" y="1143000"/>
            <a:ext cx="4775640" cy="2331720"/>
          </a:xfrm>
          <a:prstGeom prst="rect">
            <a:avLst/>
          </a:prstGeom>
        </p:spPr>
      </p:pic>
      <p:pic>
        <p:nvPicPr>
          <p:cNvPr id="5" name="Picture 4" descr="banxico_vot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843" y="3611880"/>
            <a:ext cx="4003265" cy="2331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400" b="1" i="0">
                <a:solidFill>
                  <a:srgbClr val="1F3864"/>
                </a:solidFill>
                <a:latin typeface="Calibri"/>
              </a:rPr>
              <a:t>Comunicación de Banxico: evolución de la guía prospectiva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27080" cy="137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anxico_trayectoria_tasa.png"/>
          <p:cNvPicPr>
            <a:picLocks noChangeAspect="1"/>
          </p:cNvPicPr>
          <p:nvPr/>
        </p:nvPicPr>
        <p:blipFill>
          <a:blip r:embed="rId2"/>
          <a:srcRect l="50568" t="13796" r="5337" b="53797"/>
          <a:stretch>
            <a:fillRect/>
          </a:stretch>
        </p:blipFill>
        <p:spPr>
          <a:xfrm>
            <a:off x="393192" y="1463040"/>
            <a:ext cx="4416551" cy="42005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17</a:t>
            </a:r>
          </a:p>
        </p:txBody>
      </p:sp>
      <p:pic>
        <p:nvPicPr>
          <p:cNvPr id="9" name="Picture 8" descr="banxico_trayectoria_tasa.png">
            <a:extLst>
              <a:ext uri="{FF2B5EF4-FFF2-40B4-BE49-F238E27FC236}">
                <a16:creationId xmlns:a16="http://schemas.microsoft.com/office/drawing/2014/main" id="{4AD3B0BE-E53F-3F57-EEF2-E5F7F0E310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30" t="46945" r="8133" b="16574"/>
          <a:stretch>
            <a:fillRect/>
          </a:stretch>
        </p:blipFill>
        <p:spPr>
          <a:xfrm>
            <a:off x="4809743" y="1490472"/>
            <a:ext cx="7016186" cy="39044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200" b="1" i="0">
                <a:solidFill>
                  <a:srgbClr val="1F3864"/>
                </a:solidFill>
                <a:latin typeface="Calibri"/>
              </a:rPr>
              <a:t>Balance de riesgos: sesgo al alza en inflación, a la baja en actividad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27080" cy="137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solidFill>
            <a:srgbClr val="D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Al alza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7548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 i="0">
                <a:solidFill>
                  <a:srgbClr val="444444"/>
                </a:solidFill>
                <a:latin typeface="Calibri"/>
              </a:rPr>
              <a:t>i) Disrupciones por políticas comerciales o impacto inflacionario de conflictos geopolíticos</a:t>
            </a:r>
          </a:p>
          <a:p>
            <a:pPr algn="l">
              <a:spcAft>
                <a:spcPts val="1000"/>
              </a:spcAft>
            </a:pPr>
            <a:r>
              <a:rPr sz="1000" b="0" i="0">
                <a:solidFill>
                  <a:srgbClr val="444444"/>
                </a:solidFill>
                <a:latin typeface="Calibri"/>
              </a:rPr>
              <a:t>ii) Persistencia de la inflación subyacente</a:t>
            </a:r>
          </a:p>
          <a:p>
            <a:pPr algn="l">
              <a:spcAft>
                <a:spcPts val="1000"/>
              </a:spcAft>
            </a:pPr>
            <a:r>
              <a:rPr sz="1000" b="0" i="0">
                <a:solidFill>
                  <a:srgbClr val="444444"/>
                </a:solidFill>
                <a:latin typeface="Calibri"/>
              </a:rPr>
              <a:t>iii) Presiones de costos</a:t>
            </a:r>
          </a:p>
          <a:p>
            <a:pPr algn="l">
              <a:spcAft>
                <a:spcPts val="1000"/>
              </a:spcAft>
            </a:pPr>
            <a:r>
              <a:rPr sz="1000" b="0" i="0">
                <a:solidFill>
                  <a:srgbClr val="444444"/>
                </a:solidFill>
                <a:latin typeface="Calibri"/>
              </a:rPr>
              <a:t>iv) Depreciación del tipo de cambio</a:t>
            </a:r>
          </a:p>
          <a:p>
            <a:pPr algn="l">
              <a:spcAft>
                <a:spcPts val="1000"/>
              </a:spcAft>
            </a:pPr>
            <a:r>
              <a:rPr sz="1000" b="0" i="0">
                <a:solidFill>
                  <a:srgbClr val="444444"/>
                </a:solidFill>
                <a:latin typeface="Calibri"/>
              </a:rPr>
              <a:t>v) Afectaciones climáticas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34440"/>
            <a:ext cx="5120640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2344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 la baja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75488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 i="0" dirty="0" err="1">
                <a:solidFill>
                  <a:srgbClr val="444444"/>
                </a:solidFill>
                <a:latin typeface="Calibri"/>
              </a:rPr>
              <a:t>i</a:t>
            </a:r>
            <a:r>
              <a:rPr sz="1000" b="0" i="0" dirty="0">
                <a:solidFill>
                  <a:srgbClr val="444444"/>
                </a:solidFill>
                <a:latin typeface="Calibri"/>
              </a:rPr>
              <a:t>) </a:t>
            </a:r>
            <a:r>
              <a:rPr sz="1000" b="0" i="0" dirty="0" err="1">
                <a:solidFill>
                  <a:srgbClr val="444444"/>
                </a:solidFill>
                <a:latin typeface="Calibri"/>
              </a:rPr>
              <a:t>Incertidumbre</a:t>
            </a:r>
            <a:r>
              <a:rPr sz="1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4444"/>
                </a:solidFill>
                <a:latin typeface="Calibri"/>
              </a:rPr>
              <a:t>políticas</a:t>
            </a:r>
            <a:r>
              <a:rPr sz="1000" b="0" i="0" dirty="0">
                <a:solidFill>
                  <a:srgbClr val="444444"/>
                </a:solidFill>
                <a:latin typeface="Calibri"/>
              </a:rPr>
              <a:t> de EE.UU. (</a:t>
            </a:r>
            <a:r>
              <a:rPr sz="1000" b="0" i="0" dirty="0" err="1">
                <a:solidFill>
                  <a:srgbClr val="444444"/>
                </a:solidFill>
                <a:latin typeface="Calibri"/>
              </a:rPr>
              <a:t>revisión</a:t>
            </a:r>
            <a:r>
              <a:rPr sz="1000" b="0" i="0" dirty="0">
                <a:solidFill>
                  <a:srgbClr val="444444"/>
                </a:solidFill>
                <a:latin typeface="Calibri"/>
              </a:rPr>
              <a:t> del T-MEC)</a:t>
            </a:r>
          </a:p>
          <a:p>
            <a:pPr algn="l">
              <a:spcAft>
                <a:spcPts val="1000"/>
              </a:spcAft>
            </a:pPr>
            <a:r>
              <a:rPr sz="1000" b="0" i="0" dirty="0">
                <a:solidFill>
                  <a:srgbClr val="444444"/>
                </a:solidFill>
                <a:latin typeface="Calibri"/>
              </a:rPr>
              <a:t>ii) </a:t>
            </a:r>
            <a:r>
              <a:rPr sz="1000" b="0" i="0" dirty="0" err="1">
                <a:solidFill>
                  <a:srgbClr val="444444"/>
                </a:solidFill>
                <a:latin typeface="Calibri"/>
              </a:rPr>
              <a:t>Escalamiento</a:t>
            </a:r>
            <a:r>
              <a:rPr sz="10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000" b="0" i="0" dirty="0" err="1">
                <a:solidFill>
                  <a:srgbClr val="444444"/>
                </a:solidFill>
                <a:latin typeface="Calibri"/>
              </a:rPr>
              <a:t>conflictos</a:t>
            </a:r>
            <a:r>
              <a:rPr sz="1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4444"/>
                </a:solidFill>
                <a:latin typeface="Calibri"/>
              </a:rPr>
              <a:t>geopolíticos</a:t>
            </a:r>
            <a:endParaRPr sz="1000" b="0" i="0" dirty="0">
              <a:solidFill>
                <a:srgbClr val="444444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000" b="0" i="0" dirty="0">
                <a:solidFill>
                  <a:srgbClr val="444444"/>
                </a:solidFill>
                <a:latin typeface="Calibri"/>
              </a:rPr>
              <a:t>iii) </a:t>
            </a:r>
            <a:r>
              <a:rPr sz="1000" b="0" i="0" dirty="0" err="1">
                <a:solidFill>
                  <a:srgbClr val="444444"/>
                </a:solidFill>
                <a:latin typeface="Calibri"/>
              </a:rPr>
              <a:t>Volatilidad</a:t>
            </a:r>
            <a:r>
              <a:rPr sz="1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4444"/>
                </a:solidFill>
                <a:latin typeface="Calibri"/>
              </a:rPr>
              <a:t>financiera</a:t>
            </a:r>
            <a:endParaRPr sz="1000" b="0" i="0" dirty="0">
              <a:solidFill>
                <a:srgbClr val="444444"/>
              </a:solidFill>
              <a:latin typeface="Calibri"/>
            </a:endParaRPr>
          </a:p>
          <a:p>
            <a:pPr algn="l">
              <a:spcAft>
                <a:spcPts val="1000"/>
              </a:spcAft>
            </a:pPr>
            <a:r>
              <a:rPr sz="1000" b="0" i="0" dirty="0">
                <a:solidFill>
                  <a:srgbClr val="444444"/>
                </a:solidFill>
                <a:latin typeface="Calibri"/>
              </a:rPr>
              <a:t>Al </a:t>
            </a:r>
            <a:r>
              <a:rPr sz="1000" b="0" i="0" dirty="0" err="1">
                <a:solidFill>
                  <a:srgbClr val="444444"/>
                </a:solidFill>
                <a:latin typeface="Calibri"/>
              </a:rPr>
              <a:t>alza</a:t>
            </a:r>
            <a:r>
              <a:rPr sz="1000" b="0" i="0" dirty="0">
                <a:solidFill>
                  <a:srgbClr val="444444"/>
                </a:solidFill>
                <a:latin typeface="Calibri"/>
              </a:rPr>
              <a:t> (</a:t>
            </a:r>
            <a:r>
              <a:rPr sz="1000" b="0" i="0" dirty="0" err="1">
                <a:solidFill>
                  <a:srgbClr val="444444"/>
                </a:solidFill>
                <a:latin typeface="Calibri"/>
              </a:rPr>
              <a:t>actividad</a:t>
            </a:r>
            <a:r>
              <a:rPr sz="1000" b="0" i="0" dirty="0">
                <a:solidFill>
                  <a:srgbClr val="444444"/>
                </a:solidFill>
                <a:latin typeface="Calibri"/>
              </a:rPr>
              <a:t>): </a:t>
            </a:r>
            <a:r>
              <a:rPr sz="1000" b="0" i="0" dirty="0" err="1">
                <a:solidFill>
                  <a:srgbClr val="444444"/>
                </a:solidFill>
                <a:latin typeface="Calibri"/>
              </a:rPr>
              <a:t>inversiones</a:t>
            </a:r>
            <a:r>
              <a:rPr sz="1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0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444444"/>
                </a:solidFill>
                <a:latin typeface="Calibri"/>
              </a:rPr>
              <a:t>infraestructura</a:t>
            </a:r>
            <a:r>
              <a:rPr sz="1000" b="0" i="0" dirty="0">
                <a:solidFill>
                  <a:srgbClr val="444444"/>
                </a:solidFill>
                <a:latin typeface="Calibri"/>
              </a:rPr>
              <a:t> e </a:t>
            </a:r>
            <a:r>
              <a:rPr sz="1000" b="0" i="0" dirty="0" err="1">
                <a:solidFill>
                  <a:srgbClr val="444444"/>
                </a:solidFill>
                <a:latin typeface="Calibri"/>
              </a:rPr>
              <a:t>impulso</a:t>
            </a:r>
            <a:r>
              <a:rPr sz="1000" b="0" i="0" dirty="0">
                <a:solidFill>
                  <a:srgbClr val="444444"/>
                </a:solidFill>
                <a:latin typeface="Calibri"/>
              </a:rPr>
              <a:t> de la Copa Mundial de Fútbol 2026</a:t>
            </a:r>
          </a:p>
        </p:txBody>
      </p:sp>
      <p:pic>
        <p:nvPicPr>
          <p:cNvPr id="10" name="Picture 9" descr="banxico_proyeccion_inflacion.png"/>
          <p:cNvPicPr>
            <a:picLocks noChangeAspect="1"/>
          </p:cNvPicPr>
          <p:nvPr/>
        </p:nvPicPr>
        <p:blipFill>
          <a:blip r:embed="rId2"/>
          <a:srcRect l="7856" t="45623" r="8714" b="17096"/>
          <a:stretch>
            <a:fillRect/>
          </a:stretch>
        </p:blipFill>
        <p:spPr>
          <a:xfrm>
            <a:off x="6519670" y="3307255"/>
            <a:ext cx="5001769" cy="28923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19963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>
                <a:solidFill>
                  <a:srgbClr val="999999"/>
                </a:solidFill>
                <a:latin typeface="Calibri"/>
              </a:rPr>
              <a:t>Fuente: Banco de México, Informe Trimestral Enero–Marzo 2026 (Gráfica 130).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18</a:t>
            </a:r>
          </a:p>
        </p:txBody>
      </p:sp>
      <p:pic>
        <p:nvPicPr>
          <p:cNvPr id="16" name="Picture 15" descr="banxico_proyeccion_inflacion.png">
            <a:extLst>
              <a:ext uri="{FF2B5EF4-FFF2-40B4-BE49-F238E27FC236}">
                <a16:creationId xmlns:a16="http://schemas.microsoft.com/office/drawing/2014/main" id="{C9779BCA-CE8D-929F-28E7-7C1258D1C6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47" t="7757" r="10527" b="54209"/>
          <a:stretch>
            <a:fillRect/>
          </a:stretch>
        </p:blipFill>
        <p:spPr>
          <a:xfrm>
            <a:off x="917449" y="3310974"/>
            <a:ext cx="4523231" cy="27924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IV. Perspectiva Personal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I. Contexto Externo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290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II. Economía Doméstica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III. Inflación y Postura Monetaria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291840"/>
            <a:ext cx="1828800" cy="5943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IV. Perspectiva Personal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V. Conclusiones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Política Monetaria de México · Evaluación del ciclo de recortes ene-2025 – jun-2026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1800" b="1" i="0">
                <a:solidFill>
                  <a:srgbClr val="1F3864"/>
                </a:solidFill>
                <a:latin typeface="Calibri"/>
              </a:rPr>
              <a:t>Ejercicio contrafactual: moderar el ritmo de recortes desde junio de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27080" cy="137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04000"/>
              </a:lnSpc>
              <a:spcAft>
                <a:spcPts val="500"/>
              </a:spcAft>
            </a:pPr>
            <a:r>
              <a:rPr sz="1300" b="0" i="0" dirty="0">
                <a:solidFill>
                  <a:srgbClr val="444444"/>
                </a:solidFill>
                <a:latin typeface="Calibri"/>
              </a:rPr>
              <a:t>▪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Supuesto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este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ejercicio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(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debatible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):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inflación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subyacente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anticipa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mejor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inflación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futura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la general. Si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este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supuesto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no se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sostiene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,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crítica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sigue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pierde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buena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parte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su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fuerza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. Este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supuesto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es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discutible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: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literatura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empírica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no es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concluyente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sobre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qué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medida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predice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mejor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;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propio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Banxico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utiliza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ambas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su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análisis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. Fuente del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razonamiento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: Mishkin cap. 24 (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inflación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núcleo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);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posición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propia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just">
              <a:lnSpc>
                <a:spcPct val="104000"/>
              </a:lnSpc>
              <a:spcAft>
                <a:spcPts val="500"/>
              </a:spcAft>
            </a:pPr>
            <a:r>
              <a:rPr sz="1300" b="0" i="0" dirty="0">
                <a:solidFill>
                  <a:srgbClr val="444444"/>
                </a:solidFill>
                <a:latin typeface="Calibri"/>
              </a:rPr>
              <a:t>▪ El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dato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: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subyacente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nunca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se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ubicó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debajo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4%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periodo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estudio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(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mínimo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: 4.06%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mayo de 2025) y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convergencia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a la meta se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pospuso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tres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trimestres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(3T-2026 → 2T-2027). Con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esa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señal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postura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alternativa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habría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sido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reducir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ritmo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recortes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−50 a −25 pb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desde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junio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2025,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posición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minoritaria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subgobernador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Heath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sostuvo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durante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todo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año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. Esto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habría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colocado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tasa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6.75-7.00% al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momento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alza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petróleo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.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Cálculo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propio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con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datos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Banxico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just">
              <a:lnSpc>
                <a:spcPct val="104000"/>
              </a:lnSpc>
              <a:spcAft>
                <a:spcPts val="500"/>
              </a:spcAft>
            </a:pPr>
            <a:r>
              <a:rPr sz="1300" b="0" i="0" dirty="0">
                <a:solidFill>
                  <a:srgbClr val="444444"/>
                </a:solidFill>
                <a:latin typeface="Calibri"/>
              </a:rPr>
              <a:t>▪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Reconozco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tiempo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real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riesgo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opuesto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era real: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inflación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general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mostraba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trayectoria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descendente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hacia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3.5% y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inversión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fija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caía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tasas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6-8%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anual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. El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dilema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entre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velocidad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convergencia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costo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actividad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no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tenía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solución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evidente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. Mi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intuición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es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la Junta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ponderó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más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brecha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producto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persistencia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subyacente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pero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esa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ponderación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es un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juicio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legítimo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política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, no un error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técnico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.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Posición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propia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just">
              <a:lnSpc>
                <a:spcPct val="104000"/>
              </a:lnSpc>
              <a:spcAft>
                <a:spcPts val="500"/>
              </a:spcAft>
            </a:pPr>
            <a:r>
              <a:rPr sz="1300" b="0" i="0" dirty="0">
                <a:solidFill>
                  <a:srgbClr val="444444"/>
                </a:solidFill>
                <a:latin typeface="Calibri"/>
              </a:rPr>
              <a:t>▪ La pausa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febrero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2026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fue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, a mi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juicio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correcta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.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Yo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habría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condicionado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a un umbral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verificable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subyacente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lugar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referirla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al "panorama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inflacionario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"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general. Es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posible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ambigüedad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haya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sido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deliberada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preservar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opcionalidad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es un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objetivo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legítimo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comunicación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pero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costo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esa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ambigüedad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se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manifestó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marzo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: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decisión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recortar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un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entorno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petróleo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a 105 USD se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aprobó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con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votación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3-2.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Posición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propia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just">
              <a:lnSpc>
                <a:spcPct val="104000"/>
              </a:lnSpc>
              <a:spcAft>
                <a:spcPts val="500"/>
              </a:spcAft>
            </a:pPr>
            <a:r>
              <a:rPr sz="1300" b="0" i="0" dirty="0">
                <a:solidFill>
                  <a:srgbClr val="444444"/>
                </a:solidFill>
                <a:latin typeface="Calibri"/>
              </a:rPr>
              <a:t>▪ El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marco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institucional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(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mandato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único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estabilidad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precios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) y uno alternativo (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mandato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dual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como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la Fed)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apuntan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, bajo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estos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datos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direcciones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similares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. Con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mandato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dual,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desempleo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2.5%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reforzaría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decisión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frenar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antes. Con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mandato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único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inflación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encima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4%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apunta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misma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dirección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. El contrafactual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propuesto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es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robusto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a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especificación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mandato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.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Posición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propia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basada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Mishkin cap. 20 (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objetivos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los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bancos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centrales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).</a:t>
            </a:r>
          </a:p>
          <a:p>
            <a:pPr algn="just">
              <a:lnSpc>
                <a:spcPct val="104000"/>
              </a:lnSpc>
              <a:spcAft>
                <a:spcPts val="500"/>
              </a:spcAft>
            </a:pPr>
            <a:r>
              <a:rPr sz="1300" b="0" i="0" dirty="0">
                <a:solidFill>
                  <a:srgbClr val="444444"/>
                </a:solidFill>
                <a:latin typeface="Calibri"/>
              </a:rPr>
              <a:t>▪ Dos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sesgos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debo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señalar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: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retrospectiva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(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evalúo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con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dato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abril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2026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la mano;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junio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2025, con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inflación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general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descendiendo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,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decisión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era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más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compleja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) y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confirmación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(mi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posición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coincide con la del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disidente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cuya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postura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narrativa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posterior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parece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favorecer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, y no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tengo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certeza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si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estoy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evaluando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sus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argumentos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o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su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resultado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).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Posición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Calibri"/>
              </a:rPr>
              <a:t>propia</a:t>
            </a:r>
            <a:r>
              <a:rPr sz="1300" b="0" i="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9963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>
                <a:solidFill>
                  <a:srgbClr val="999999"/>
                </a:solidFill>
                <a:latin typeface="Calibri"/>
              </a:rPr>
              <a:t>Fuente: elaboración propia con base en la Ley del Banco de México, CPEUM (Art. 28) y Federal Reserve 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200" b="1" i="0">
                <a:solidFill>
                  <a:srgbClr val="1F3864"/>
                </a:solidFill>
                <a:latin typeface="Calibri"/>
              </a:rPr>
              <a:t>Evaluación del desempeño de Banxico: aciertos y áreas de mejora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27080" cy="137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879592" cy="4827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04000"/>
              </a:lnSpc>
              <a:spcAft>
                <a:spcPts val="500"/>
              </a:spcAft>
            </a:pPr>
            <a:r>
              <a:rPr sz="1100" b="0" i="0" dirty="0">
                <a:solidFill>
                  <a:srgbClr val="444444"/>
                </a:solidFill>
                <a:latin typeface="Calibri"/>
              </a:rPr>
              <a:t>▪ Los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datos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favorables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: la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desinflación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8.7% a 4.4% se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logró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sin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una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recesión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profunda (la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peor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variación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trimestral de 2025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fue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−0.2%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anual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), con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peso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apreciándose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16%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desde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su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máximo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y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desempleo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mínimos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históricos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. En la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función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pérdida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cualquier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banco central,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esa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combinación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describe un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aterrizaje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ordenado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. Fuente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los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datos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: INEGI y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Banxico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SIE;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evaluación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propia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just">
              <a:lnSpc>
                <a:spcPct val="104000"/>
              </a:lnSpc>
              <a:spcAft>
                <a:spcPts val="500"/>
              </a:spcAft>
            </a:pPr>
            <a:r>
              <a:rPr sz="1100" b="0" i="0" dirty="0">
                <a:solidFill>
                  <a:srgbClr val="444444"/>
                </a:solidFill>
                <a:latin typeface="Calibri"/>
              </a:rPr>
              <a:t>▪ El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manejo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alza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petróleo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marzo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2026 me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parece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técnicamente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correcto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su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lógica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: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mantener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distinción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entre lo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transitorio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(no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subyacente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: 2.4% → 5.1%) y lo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persistente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(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subyacente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estable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4.3-4.5%), no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sobre-reaccionar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con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incrementos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tasa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, y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preparar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la pausa con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tres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meses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comunicación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previa. La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prueba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definitiva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esta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estrategia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llegará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si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se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materializan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efectos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segunda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ronda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sobre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subyacente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;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los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datos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disponibles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hasta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abril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2026 no se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observan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.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Evaluación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propia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just">
              <a:lnSpc>
                <a:spcPct val="104000"/>
              </a:lnSpc>
              <a:spcAft>
                <a:spcPts val="500"/>
              </a:spcAft>
            </a:pPr>
            <a:r>
              <a:rPr sz="1100" b="0" i="0" dirty="0">
                <a:solidFill>
                  <a:srgbClr val="444444"/>
                </a:solidFill>
                <a:latin typeface="Calibri"/>
              </a:rPr>
              <a:t>▪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Áreas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mejora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: la "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última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milla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" de la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desinflación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(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llevar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inflación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4% a 3%) no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avanzó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periodo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estudio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. La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subyacente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se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mantuvo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encima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4%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durante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todo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periodo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, y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ciclo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−200 pb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los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primeros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cinco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meses de 2025 se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decidió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cuando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ese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dato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ya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era visible. La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postergación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la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convergencia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tres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trimestres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(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anunciada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febrero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2026) es un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reconocimiento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implícito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un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optimismo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excesivo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las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proyecciones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previas.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Evaluación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propia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just">
              <a:lnSpc>
                <a:spcPct val="104000"/>
              </a:lnSpc>
              <a:spcAft>
                <a:spcPts val="500"/>
              </a:spcAft>
            </a:pPr>
            <a:r>
              <a:rPr sz="1100" b="0" i="0" dirty="0">
                <a:solidFill>
                  <a:srgbClr val="444444"/>
                </a:solidFill>
                <a:latin typeface="Calibri"/>
              </a:rPr>
              <a:t>▪ Una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hipótesis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no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puedo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verificar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con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los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datos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este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proyecto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: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cada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postergación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horizonte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convergencia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(la meta de 3% no se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alcanza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desde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2020)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erosiona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gradualmente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anclaje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expectativas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inflación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. Para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evaluar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esta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hipótesis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se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requerirían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las series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expectativas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especialistas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del sector privado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Banxico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recopila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y publica, las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cuales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no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forman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parte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del conjunto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datos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este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análisis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. Este es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principal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vacío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empírico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mi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evaluación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.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Posición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propia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just">
              <a:lnSpc>
                <a:spcPct val="104000"/>
              </a:lnSpc>
              <a:spcAft>
                <a:spcPts val="500"/>
              </a:spcAft>
            </a:pPr>
            <a:r>
              <a:rPr sz="1100" b="0" i="0" dirty="0">
                <a:solidFill>
                  <a:srgbClr val="444444"/>
                </a:solidFill>
                <a:latin typeface="Calibri"/>
              </a:rPr>
              <a:t>▪ Balance personal: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Banxico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ejecutó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adecuadamente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fase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ajuste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2026 (pausa,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gradualidad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comunicación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), lo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cual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corrigió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parcialmente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lo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considero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un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exceso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velocidad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ritmo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recortes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2025. No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tengo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certeza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convergencia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al 3%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2T-2027 se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cumpla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;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sí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tengo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certeza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credibilidad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la meta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inflación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depende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esa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convergencia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ocurra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un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horizonte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razonable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.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Posición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444444"/>
                </a:solidFill>
                <a:latin typeface="Calibri"/>
              </a:rPr>
              <a:t>propia</a:t>
            </a:r>
            <a:r>
              <a:rPr sz="1100" b="0" i="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pic>
        <p:nvPicPr>
          <p:cNvPr id="5" name="Picture 4" descr="banxico_proyeccion_pib.png"/>
          <p:cNvPicPr>
            <a:picLocks noChangeAspect="1"/>
          </p:cNvPicPr>
          <p:nvPr/>
        </p:nvPicPr>
        <p:blipFill>
          <a:blip r:embed="rId2"/>
          <a:srcRect l="9341" t="8854" r="48543" b="43432"/>
          <a:stretch>
            <a:fillRect/>
          </a:stretch>
        </p:blipFill>
        <p:spPr>
          <a:xfrm>
            <a:off x="7799832" y="1029714"/>
            <a:ext cx="3441954" cy="50464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199632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 i="0">
                <a:solidFill>
                  <a:srgbClr val="999999"/>
                </a:solidFill>
                <a:latin typeface="Calibri"/>
              </a:rPr>
              <a:t>Fuente: Banco de México, Informe Trimestral Enero–Marzo 2026 (Gráfica 128).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3864"/>
                </a:solidFill>
                <a:latin typeface="Calibri"/>
              </a:rPr>
              <a:t>V. Conclusiones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I. Contexto Externo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290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II. Economía Doméstica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III. Inflación y Postura Monetaria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291840"/>
            <a:ext cx="182880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</a:rPr>
              <a:t>IV. Perspectiva Personal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3291840"/>
            <a:ext cx="1828800" cy="5943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0" y="329184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V. Conclusiones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Calibri"/>
              </a:rPr>
              <a:t>Política Monetaria de México · Evaluación del ciclo de recortes ene-2025 – jun-2026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Política monetaria de México · ene 2025 – jun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28600"/>
            <a:ext cx="10927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sz="2400" b="1" i="0">
                <a:solidFill>
                  <a:srgbClr val="1F3864"/>
                </a:solidFill>
                <a:latin typeface="Calibri"/>
              </a:rPr>
              <a:t>Conclusiones: pausa en 6.50%, la convergencia al 3% queda para 2027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27080" cy="1371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spcAft>
                <a:spcPts val="500"/>
              </a:spcAft>
            </a:pPr>
            <a:r>
              <a:rPr sz="1400" b="1" i="0" dirty="0">
                <a:solidFill>
                  <a:srgbClr val="1F3864"/>
                </a:solidFill>
                <a:latin typeface="Calibri"/>
              </a:rPr>
              <a:t>■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Banxico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redujo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tasa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objetivo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350 pb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durante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periodo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estudio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(10.00% → 6.50%).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tasa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real ex-ante (2.79%) se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encuentra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0.09 pp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encima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estimación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puntual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tasa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neutral (2.7%). En las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condiciones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actuales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ciclo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recortes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ha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alcanzado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un punto de pausa;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margen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para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reducciones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adicionales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sin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volverse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expansivos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es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reducido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.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Cálculo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propio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con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datos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oficiales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just">
              <a:spcAft>
                <a:spcPts val="500"/>
              </a:spcAft>
            </a:pPr>
            <a:r>
              <a:rPr sz="1400" b="1" i="0" dirty="0">
                <a:solidFill>
                  <a:srgbClr val="1F3864"/>
                </a:solidFill>
                <a:latin typeface="Calibri"/>
              </a:rPr>
              <a:t>■ 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El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alza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los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precios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petróleo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marzo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2026 (APSP: +57%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mensual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)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interrumpió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trayectoria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descendente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inflación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general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vía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componente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no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subyacente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(2.4% → 5.1%). Hasta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abril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2026,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este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incremento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no se ha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transmitido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manera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perceptible a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inflación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subyacente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(4.3%).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proyección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oficial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supone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este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efecto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es temporal y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convergencia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a la meta de 3% se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alcanzará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segundo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trimestre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2027. Fuente: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Banxico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SIE; Informe Trimestral Ene-Mar 2026.</a:t>
            </a:r>
          </a:p>
          <a:p>
            <a:pPr algn="just">
              <a:spcAft>
                <a:spcPts val="500"/>
              </a:spcAft>
            </a:pPr>
            <a:r>
              <a:rPr sz="1400" b="1" i="0" dirty="0">
                <a:solidFill>
                  <a:srgbClr val="1F3864"/>
                </a:solidFill>
                <a:latin typeface="Calibri"/>
              </a:rPr>
              <a:t>■ 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economía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real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presenta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señales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mixtas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para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política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monetaria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: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crecimiento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proyectado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del PIB para 2026 (1.1%,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Banxico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) y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inversión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fija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contracción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sugieren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actividad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podría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beneficiarse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menores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tasas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;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inflación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4.4% con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riesgos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al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alza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sugiere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mantener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restricción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. La pausa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anunciada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mayo de 2026 es un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equilibrio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entre ambas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lecturas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.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Evaluación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propia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just">
              <a:spcAft>
                <a:spcPts val="500"/>
              </a:spcAft>
            </a:pPr>
            <a:r>
              <a:rPr sz="1400" b="1" i="0" dirty="0">
                <a:solidFill>
                  <a:srgbClr val="1F3864"/>
                </a:solidFill>
                <a:latin typeface="Calibri"/>
              </a:rPr>
              <a:t>■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Indicadores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monitorear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los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próximos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meses: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i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)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posible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traspaso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alza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petróleo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a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inflación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subyacente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(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efectos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segunda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ronda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); ii)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decisión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política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monetaria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finales de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junio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2026,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primera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prueba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señal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pausa; iii)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proceso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revisión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del T-MEC y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política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comercial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Estados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Unidos; iv)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trayectoria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tasa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Reserva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Federal,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condiciona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diferencial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tasas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y, 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través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este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tipo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cambio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.</a:t>
            </a:r>
          </a:p>
          <a:p>
            <a:pPr algn="just">
              <a:spcAft>
                <a:spcPts val="500"/>
              </a:spcAft>
            </a:pPr>
            <a:r>
              <a:rPr sz="1400" b="1" i="0" dirty="0">
                <a:solidFill>
                  <a:srgbClr val="1F3864"/>
                </a:solidFill>
                <a:latin typeface="Calibri"/>
              </a:rPr>
              <a:t>■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Mensaje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final: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periodo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enero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2025 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junio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2026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presenta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a un banco central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redujo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tasa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referencia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manera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sustancial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corrigió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ritmo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cuando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evidencia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lo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sugirió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, y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comunicó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salida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ciclo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recortes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con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anticipación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. El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desafío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pendiente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es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última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milla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desinflación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: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llevar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la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inflación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subyacente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4.3% a 3%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un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entorno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externo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menos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favorable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que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1400" b="0" i="0" dirty="0">
                <a:solidFill>
                  <a:srgbClr val="444444"/>
                </a:solidFill>
                <a:latin typeface="Calibri"/>
              </a:rPr>
              <a:t> de 2024-2025.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33672"/>
            <a:ext cx="10927080" cy="196596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4306824"/>
            <a:ext cx="106527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 dirty="0" err="1">
                <a:solidFill>
                  <a:srgbClr val="1F3864"/>
                </a:solidFill>
                <a:latin typeface="Calibri"/>
              </a:rPr>
              <a:t>Escenarios</a:t>
            </a:r>
            <a:r>
              <a:rPr sz="1000" b="1" i="0" dirty="0">
                <a:solidFill>
                  <a:srgbClr val="1F3864"/>
                </a:solidFill>
                <a:latin typeface="Calibri"/>
              </a:rPr>
              <a:t> para </a:t>
            </a:r>
            <a:r>
              <a:rPr sz="1000" b="1" i="0" dirty="0" err="1">
                <a:solidFill>
                  <a:srgbClr val="1F3864"/>
                </a:solidFill>
                <a:latin typeface="Calibri"/>
              </a:rPr>
              <a:t>el</a:t>
            </a:r>
            <a:r>
              <a:rPr sz="1000" b="1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1F3864"/>
                </a:solidFill>
                <a:latin typeface="Calibri"/>
              </a:rPr>
              <a:t>horizonte</a:t>
            </a:r>
            <a:r>
              <a:rPr sz="1000" b="1" i="0" dirty="0">
                <a:solidFill>
                  <a:srgbClr val="1F3864"/>
                </a:solidFill>
                <a:latin typeface="Calibri"/>
              </a:rPr>
              <a:t> de </a:t>
            </a:r>
            <a:r>
              <a:rPr sz="1000" b="1" i="0" dirty="0" err="1">
                <a:solidFill>
                  <a:srgbClr val="1F3864"/>
                </a:solidFill>
                <a:latin typeface="Calibri"/>
              </a:rPr>
              <a:t>convergencia</a:t>
            </a:r>
            <a:r>
              <a:rPr sz="1000" b="1" i="0" dirty="0">
                <a:solidFill>
                  <a:srgbClr val="1F3864"/>
                </a:solidFill>
                <a:latin typeface="Calibri"/>
              </a:rPr>
              <a:t> (</a:t>
            </a:r>
            <a:r>
              <a:rPr sz="1000" b="1" i="0" dirty="0" err="1">
                <a:solidFill>
                  <a:srgbClr val="1F3864"/>
                </a:solidFill>
                <a:latin typeface="Calibri"/>
              </a:rPr>
              <a:t>junio</a:t>
            </a:r>
            <a:r>
              <a:rPr sz="1000" b="1" i="0" dirty="0">
                <a:solidFill>
                  <a:srgbClr val="1F3864"/>
                </a:solidFill>
                <a:latin typeface="Calibri"/>
              </a:rPr>
              <a:t> 2026 → 2T-2027):</a:t>
            </a:r>
          </a:p>
          <a:p>
            <a:pPr algn="just">
              <a:spcAft>
                <a:spcPts val="300"/>
              </a:spcAft>
            </a:pPr>
            <a:r>
              <a:rPr sz="900" b="1" i="0" dirty="0">
                <a:solidFill>
                  <a:srgbClr val="1F3864"/>
                </a:solidFill>
                <a:latin typeface="Calibri"/>
              </a:rPr>
              <a:t>■ 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Base (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convergencia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2T-2027):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shock de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energéticos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se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revierte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efecto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base, la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subyacente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cede de 4.3%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hacia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3% sin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efectos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de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segunda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ronda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;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Banxico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sostiene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la pausa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6.50%. Es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escenario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propio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Informe Trimestral.</a:t>
            </a:r>
          </a:p>
          <a:p>
            <a:pPr algn="just">
              <a:spcAft>
                <a:spcPts val="300"/>
              </a:spcAft>
            </a:pPr>
            <a:r>
              <a:rPr sz="900" b="1" i="0" dirty="0">
                <a:solidFill>
                  <a:srgbClr val="1F3864"/>
                </a:solidFill>
                <a:latin typeface="Calibri"/>
              </a:rPr>
              <a:t>■ 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Al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alza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(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convergencia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se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pospone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):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conflicto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escala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,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petróleo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se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sostiene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sobre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105 USD y/o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peso se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deprecia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; la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subyacente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repunta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por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costos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. La pausa se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prolonga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y no se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descarta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un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alza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puntual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. Activa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los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riesgos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i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, iii y iv del balance.</a:t>
            </a:r>
          </a:p>
          <a:p>
            <a:pPr algn="just">
              <a:spcAft>
                <a:spcPts val="300"/>
              </a:spcAft>
            </a:pPr>
            <a:r>
              <a:rPr sz="900" b="1" i="0" dirty="0">
                <a:solidFill>
                  <a:srgbClr val="1F3864"/>
                </a:solidFill>
                <a:latin typeface="Calibri"/>
              </a:rPr>
              <a:t>■ 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A la baja (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convergencia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se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adelanta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): la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actividad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se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debilita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más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de lo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previsto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(FBCF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en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contracción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, PIB bajo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potencial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), la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inflación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general cede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más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rápido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;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reabre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espacio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para uno o dos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recortes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adicionales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hacia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el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centro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del </a:t>
            </a:r>
            <a:r>
              <a:rPr sz="900" b="0" i="0" dirty="0" err="1">
                <a:solidFill>
                  <a:srgbClr val="444444"/>
                </a:solidFill>
                <a:latin typeface="Calibri"/>
              </a:rPr>
              <a:t>intervalo</a:t>
            </a:r>
            <a:r>
              <a:rPr sz="900" b="0" i="0" dirty="0">
                <a:solidFill>
                  <a:srgbClr val="444444"/>
                </a:solidFill>
                <a:latin typeface="Calibri"/>
              </a:rPr>
              <a:t> neutral.</a:t>
            </a:r>
          </a:p>
          <a:p>
            <a:pPr algn="just">
              <a:spcBef>
                <a:spcPts val="300"/>
              </a:spcBef>
            </a:pPr>
            <a:r>
              <a:rPr sz="800" b="0" i="1" dirty="0" err="1">
                <a:solidFill>
                  <a:srgbClr val="999999"/>
                </a:solidFill>
                <a:latin typeface="Calibri"/>
              </a:rPr>
              <a:t>Probabilidad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cualitativa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: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el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escenario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 base es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el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 de mayor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verosimilitud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condicional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 a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que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el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 factor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exógeno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 (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geopolítica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) no se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intensifique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;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el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riesgo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dominante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 es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externo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, no de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diseño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 de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política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.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Inferencia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propia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 a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partir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 del balance de </a:t>
            </a:r>
            <a:r>
              <a:rPr sz="800" b="0" i="1" dirty="0" err="1">
                <a:solidFill>
                  <a:srgbClr val="999999"/>
                </a:solidFill>
                <a:latin typeface="Calibri"/>
              </a:rPr>
              <a:t>riesgos</a:t>
            </a:r>
            <a:r>
              <a:rPr sz="800" b="0" i="1" dirty="0">
                <a:solidFill>
                  <a:srgbClr val="999999"/>
                </a:solidFill>
                <a:latin typeface="Calibri"/>
              </a:rPr>
              <a:t> del Informe Trimestral Ene-Mar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 i="0">
                <a:solidFill>
                  <a:srgbClr val="666666"/>
                </a:solidFill>
                <a:latin typeface="Calibri"/>
              </a:rPr>
              <a:t>Política monetaria de México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6446520"/>
            <a:ext cx="48764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>
                <a:solidFill>
                  <a:srgbClr val="999999"/>
                </a:solidFill>
                <a:latin typeface="Calibri"/>
              </a:rPr>
              <a:t>Cierre · Donovan Díaz Moreno · CIDE (Tema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DE97A24283FB946BCF8C44ACA2F409A" ma:contentTypeVersion="13" ma:contentTypeDescription="Crear nuevo documento." ma:contentTypeScope="" ma:versionID="2b4e9a14282ce6079c2145751fbe2e4e">
  <xsd:schema xmlns:xsd="http://www.w3.org/2001/XMLSchema" xmlns:xs="http://www.w3.org/2001/XMLSchema" xmlns:p="http://schemas.microsoft.com/office/2006/metadata/properties" xmlns:ns3="c13648ee-65ed-4591-9b2b-bee29cd12bd9" xmlns:ns4="1f0fd73f-7af2-4963-b31f-6f683a1cbdf0" targetNamespace="http://schemas.microsoft.com/office/2006/metadata/properties" ma:root="true" ma:fieldsID="f121f4b53baf83484f9e77159e649ebc" ns3:_="" ns4:_="">
    <xsd:import namespace="c13648ee-65ed-4591-9b2b-bee29cd12bd9"/>
    <xsd:import namespace="1f0fd73f-7af2-4963-b31f-6f683a1cbdf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3648ee-65ed-4591-9b2b-bee29cd12b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0fd73f-7af2-4963-b31f-6f683a1cbdf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3648ee-65ed-4591-9b2b-bee29cd12bd9" xsi:nil="true"/>
  </documentManagement>
</p:properties>
</file>

<file path=customXml/itemProps1.xml><?xml version="1.0" encoding="utf-8"?>
<ds:datastoreItem xmlns:ds="http://schemas.openxmlformats.org/officeDocument/2006/customXml" ds:itemID="{D3E77CB8-7F60-4896-A43F-C67A8043BD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3648ee-65ed-4591-9b2b-bee29cd12bd9"/>
    <ds:schemaRef ds:uri="1f0fd73f-7af2-4963-b31f-6f683a1cbd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5401B4B-6C49-4558-A364-D23633D6D1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450F24-AA72-454A-901E-3C5BFC6DD786}">
  <ds:schemaRefs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c13648ee-65ed-4591-9b2b-bee29cd12bd9"/>
    <ds:schemaRef ds:uri="http://schemas.microsoft.com/office/infopath/2007/PartnerControls"/>
    <ds:schemaRef ds:uri="http://schemas.openxmlformats.org/package/2006/metadata/core-properties"/>
    <ds:schemaRef ds:uri="1f0fd73f-7af2-4963-b31f-6f683a1cbdf0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2712</Words>
  <Application>Microsoft Office PowerPoint</Application>
  <PresentationFormat>Widescreen</PresentationFormat>
  <Paragraphs>163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Política Monetaria de México (ene-2025 → jun-2026)</dc:title>
  <dc:subject/>
  <dc:creator>Donovan Díaz Moreno</dc:creator>
  <cp:keywords/>
  <dc:description>generated using python-pptx</dc:description>
  <cp:lastModifiedBy>Diaz Moreno, Donovan Byron</cp:lastModifiedBy>
  <cp:revision>4</cp:revision>
  <dcterms:created xsi:type="dcterms:W3CDTF">2013-01-27T09:14:16Z</dcterms:created>
  <dcterms:modified xsi:type="dcterms:W3CDTF">2026-06-13T04:57:29Z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0x010100DDE97A24283FB946BCF8C44ACA2F409A</vt:lpwstr>
  </property>
</Properties>
</file>